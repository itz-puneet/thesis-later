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8c265df-ef39-a75d-d7ea-94fd902cfc0b}">
          <p14:sldIdLst>
            <p14:sldId id="256"/>
            <p14:sldId id="257"/>
          </p14:sldIdLst>
        </p14:section>
        <p14:section name="Overview and motivation" id="{da6b8bb0-5592-aa9f-a237-55a2f2f592c4}">
          <p14:sldIdLst>
            <p14:sldId id="258"/>
            <p14:sldId id="259"/>
            <p14:sldId id="260"/>
          </p14:sldIdLst>
        </p14:section>
        <p14:section name="Related works" id="{0863df89-89ab-58a3-3f64-ea4d1c3649bb}">
          <p14:sldIdLst>
            <p14:sldId id="261"/>
            <p14:sldId id="262"/>
          </p14:sldIdLst>
        </p14:section>
        <p14:section name="Research gaps and objectives" id="{d2fdaea1-ed90-71fc-b258-cc20565911ba}">
          <p14:sldIdLst>
            <p14:sldId id="263"/>
            <p14:sldId id="264"/>
            <p14:sldId id="265"/>
          </p14:sldIdLst>
        </p14:section>
        <p14:section name="Dataset and methodology" id="{69d20737-0485-ee73-3be8-5f64d985487e}">
          <p14:sldIdLst>
            <p14:sldId id="266"/>
            <p14:sldId id="267"/>
            <p14:sldId id="268"/>
            <p14:sldId id="269"/>
          </p14:sldIdLst>
        </p14:section>
        <p14:section name="References" id="{2ea88134-1eac-4c90-f773-6c685bdd52ab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74320" y="566928"/>
            <a:ext cx="85953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8595360" y="48463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/ 16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8595360" y="48463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/ 16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8595360" y="48463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/ 16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lock"/>
          <p:cNvSpPr/>
          <p:nvPr/>
        </p:nvSpPr>
        <p:spPr>
          <a:xfrm>
            <a:off x="146304" y="566928"/>
            <a:ext cx="8851392" cy="1005840"/>
          </a:xfrm>
          <a:prstGeom prst="roundRect">
            <a:avLst>
              <a:gd name="adj" fmla="val 6364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63500" dist="31750" dir="2700000">
              <a:srgbClr val="000000">
                <a:alpha val="40000"/>
              </a:srgbClr>
            </a:outerShdw>
          </a:effectLst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74320" y="566928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Label Noise in Just-In-Time Software Defect Prediction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299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Puneet Deshwani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487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2025MCS013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Under the supervision of Dr. Santosh Singh Rathore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015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Department of Computer Science and Engineering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639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Atal Bihari Vajpayee Indian Institute of Information Technology and Management, Gwalior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879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Contents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Overview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Motivation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Related Works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Research Gaps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Objectives and Research Questions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Dataset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Proposed Methodology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References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Overview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Just-in-time software defect prediction (JIT-SDP) predicts, at commit time, whether a code change is likely to introduce a defect, so that review and testing effort can be directed to risky changes [6].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 models are trained on past commits. Each commit is described by change metrics and is labelled as clean or defect-introducing.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These labels are not recorded in the repository. They are inferred by the SZZ algorithm, which traces the lines changed in a bug-fixing commit back to the commits that last modified them [11].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Bug-fixing commits often contain unrelated changes (tangled commits), so SZZ produces wrong labels. Only 17% to 32% of the changed lines in bug-fixing commits contribute to the fix [5].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Overview</a:t>
            </a:r>
            <a:endParaRPr lang="en-US" sz="2400" dirty="0"/>
          </a:p>
        </p:txBody>
      </p:sp>
      <p:pic>
        <p:nvPicPr>
          <p:cNvPr id="3" name="Figure 1" descr="/home/afler/Documents/thesis-later/scripts/presentation/images/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25880"/>
            <a:ext cx="4069080" cy="2043737"/>
          </a:xfrm>
          <a:prstGeom prst="rect">
            <a:avLst/>
          </a:prstGeom>
        </p:spPr>
      </p:pic>
      <p:sp>
        <p:nvSpPr>
          <p:cNvPr id="4" name="Caption 1"/>
          <p:cNvSpPr txBox="1"/>
          <p:nvPr/>
        </p:nvSpPr>
        <p:spPr>
          <a:xfrm>
            <a:off x="274320" y="3415337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1: </a:t>
            </a:r>
            <a:r>
              <a:rPr lang="en-US" sz="1150" dirty="0">
                <a:solidFill>
                  <a:schemeClr val="tx1"/>
                </a:solidFill>
              </a:rPr>
              <a:t>Workflow of JIT-SDP</a:t>
            </a:r>
            <a:endParaRPr lang="en-US" sz="1150" dirty="0"/>
          </a:p>
        </p:txBody>
      </p:sp>
      <p:pic>
        <p:nvPicPr>
          <p:cNvPr id="5" name="Figure 2" descr="/home/afler/Documents/thesis-later/scripts/presentation/images/szz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98448"/>
            <a:ext cx="4297680" cy="2088280"/>
          </a:xfrm>
          <a:prstGeom prst="rect">
            <a:avLst/>
          </a:prstGeom>
        </p:spPr>
      </p:pic>
      <p:sp>
        <p:nvSpPr>
          <p:cNvPr id="6" name="Caption 2"/>
          <p:cNvSpPr txBox="1"/>
          <p:nvPr/>
        </p:nvSpPr>
        <p:spPr>
          <a:xfrm>
            <a:off x="4572000" y="34324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2: </a:t>
            </a:r>
            <a:r>
              <a:rPr lang="en-US" sz="1150" dirty="0">
                <a:solidFill>
                  <a:schemeClr val="tx1"/>
                </a:solidFill>
              </a:rPr>
              <a:t>Labelling with SZZ and a wrong label caused by an unrelated change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Motivation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JIT-SDP models are trained and tested on the same SZZ labels. A model is then rewarded for reproducing the errors of SZZ, and the effect of label noise on the reported performance is not visible.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Random k-fold cross-validation is still widely used, although it trains the model on commits that are newer than the test commits [3].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 practice the label of a commit arrives late (verification latency): a defect is recognised only when it is fixed, which can take months or years [1].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It is therefore not known how much SZZ label noise costs a model that is evaluated in a realistic setting.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Related Works - 1</a:t>
            </a:r>
            <a:endParaRPr lang="en-US" sz="24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25880"/>
                <a:gridCol w="1920240"/>
                <a:gridCol w="2514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Title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Dataset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Key Takeaways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When Do Changes Induce Fixes? (2005) [11]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Jacek Śliwerski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Mozilla and Eclipse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Proposes the SZZ algorithm: lines changed by a bug fix are traced back with annotate (blame) to find the bug-introducing changes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 Framework for Evaluating the Results of the SZZ Approach for Identifying Bug-Introducing Changes (2017) [2]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Daniel A. da Costa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Ten open-source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Criteria for evaluating SZZ implementations; proposes MA-SZZ, which ignores meta-changes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Evaluating SZZ Implementations Through a Developer-Informed Oracle (2021) [10]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Giovanni Rosa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1,930 bug-fixing commits in which the developer names the introducing commit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Compares SZZ variants against the oracle; R-SZZ performs best (precision about 66%); releases PySZZ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 Fine-grained Data Set and Analysis of Tangling in Bug Fixing Commits (2022) [5]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Steffen Herbold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LLTC4J: manually labelled bug-fixing commits of Apache Java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Only 17% to 32% of the changed lines contribute to the bug fix; tangling adds noise to defect data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The Impact of Changes Mislabeled by SZZ on Just-in-Time Defect Prediction (2021) [4]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Yuanrui Fan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126,526 changes from ten Apache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Compares four SZZ variants with RA-SZZ as the reference; labels of AG-SZZ reduce performance significantly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Related Works - 2</a:t>
            </a:r>
            <a:endParaRPr lang="en-US" sz="24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25880"/>
                <a:gridCol w="1920240"/>
                <a:gridCol w="2514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Title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Dataset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Key Takeaways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 Large-Scale Empirical Study of Just-in-Time Quality Assurance (2013) [6]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Yasutaka Kamei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Six open-source and five commercial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 change metrics in five groups; 68% accuracy and 64% recall with logistic regression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Are Fix-Inducing Changes a Moving Target? (2018) [7]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Shane McIntosh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Qt and OpenStack (37,524 changes)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Properties of fix-inducing changes change over time; models lose predictive power as they age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Class Imbalance Evolution and Verification Latency in Just-in-Time Software Defect Prediction (2019) [1]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George G. Cabral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Ten GitHub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Online JIT-SDP with delayed labels (90-day waiting period); proposes ORB for evolving class imbalance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Deep Just-in-Time Defect Prediction: How Far Are We? (2021) [12]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Zhengran Zeng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Open-source projects with over 310,000 changes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Deep models do not consistently beat simple ones; LApredict (logistic regression on added lines) is best in most cases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The Best of Both Worlds: Integrating Semantic Features with Expert Features for Defect Prediction and Localization (2022) [8]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Chao Ni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JIT-Defects4J: 21 Java projects, 27,319 commits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Dataset built from manually validated bug-fixing lines; proposes JIT-Fine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Research Gaps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Noise of SZZ labels not measured over complete project histories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Models tested against the same labels on which they are trained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Effect of label noise not separated from the effect of the evaluation procedure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Label noise not studied under verification latency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Effect of SZZ noise on online learners not understood, and no remedy for this setting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Objectives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Objective 1: </a:t>
            </a:r>
            <a:r>
              <a:rPr lang="en-US" sz="1700" dirty="0">
                <a:solidFill>
                  <a:schemeClr val="tx1"/>
                </a:solidFill>
              </a:rPr>
              <a:t>To quantify the label noise introduced by SZZ and its variants, by comparing their labels with independent reference labels over complete project histories.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Objective 2: </a:t>
            </a:r>
            <a:r>
              <a:rPr lang="en-US" sz="1700" dirty="0">
                <a:solidFill>
                  <a:schemeClr val="tx1"/>
                </a:solidFill>
              </a:rPr>
              <a:t>To measure the effect of this noise on JIT-SDP models under a realistic evaluation that respects the order of the commits and the delay of the labels, and to separate it from the effect of the evaluation procedure.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Objective 3: </a:t>
            </a:r>
            <a:r>
              <a:rPr lang="en-US" sz="1700" dirty="0">
                <a:solidFill>
                  <a:schemeClr val="tx1"/>
                </a:solidFill>
              </a:rPr>
              <a:t>To identify how the noise affects an online learner, and to develop a noise-aware online learning approach that reduces its effect.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Research Questions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RQ1: </a:t>
            </a:r>
            <a:r>
              <a:rPr lang="en-US" sz="1700" dirty="0">
                <a:solidFill>
                  <a:schemeClr val="tx1"/>
                </a:solidFill>
              </a:rPr>
              <a:t>How much do the labels of SZZ variants disagree with one another and with independent reference labels, and what type of error does each variant make?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RQ2: </a:t>
            </a:r>
            <a:r>
              <a:rPr lang="en-US" sz="1700" dirty="0">
                <a:solidFill>
                  <a:schemeClr val="tx1"/>
                </a:solidFill>
              </a:rPr>
              <a:t>How does the choice of the label source affect the measured performance of JIT-SDP models under different evaluation settings?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RQ3: </a:t>
            </a:r>
            <a:r>
              <a:rPr lang="en-US" sz="1700" dirty="0">
                <a:solidFill>
                  <a:schemeClr val="tx1"/>
                </a:solidFill>
              </a:rPr>
              <a:t>Through which mechanism does label noise reduce the performance of an online learner, and which type of error is responsible?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RQ4: </a:t>
            </a:r>
            <a:r>
              <a:rPr lang="en-US" sz="1700" dirty="0">
                <a:solidFill>
                  <a:schemeClr val="tx1"/>
                </a:solidFill>
              </a:rPr>
              <a:t>Can an online learner be made less sensitive to SZZ label noise without access to clean labels?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Dataset</a:t>
            </a:r>
            <a:endParaRPr lang="en-US" sz="2400" dirty="0"/>
          </a:p>
        </p:txBody>
      </p:sp>
      <p:sp>
        <p:nvSpPr>
          <p:cNvPr id="3" name="Bullets"/>
          <p:cNvSpPr txBox="1"/>
          <p:nvPr/>
        </p:nvSpPr>
        <p:spPr>
          <a:xfrm>
            <a:off x="320040" y="77724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JIT-Defects4J [8]: 27,319 commits from 21 Apache Java projects (2001 to 2019)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2,332 commits (8.54%) are defect-introducing; 5,453 commits are bug-fixing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Reference labels: bug-fixing lines validated by at least three of four annotators, then traced back with git blame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Features: the 14 change metrics of Kamei et al. [6]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Selected because its labels do not come from the SZZ variants under study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SZZ labels and label arrival times will be added in MTP II</a:t>
            </a:r>
            <a:endParaRPr lang="en-US" sz="1450" dirty="0"/>
          </a:p>
        </p:txBody>
      </p:sp>
      <p:pic>
        <p:nvPicPr>
          <p:cNvPr id="4" name="Figure 3" descr="/home/afler/Documents/thesis-later/scripts/presentation/images/pro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914400"/>
            <a:ext cx="3794760" cy="2928056"/>
          </a:xfrm>
          <a:prstGeom prst="rect">
            <a:avLst/>
          </a:prstGeom>
        </p:spPr>
      </p:pic>
      <p:sp>
        <p:nvSpPr>
          <p:cNvPr id="5" name="Caption 3"/>
          <p:cNvSpPr txBox="1"/>
          <p:nvPr/>
        </p:nvSpPr>
        <p:spPr>
          <a:xfrm>
            <a:off x="5074920" y="388817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3: </a:t>
            </a:r>
            <a:r>
              <a:rPr lang="en-US" sz="1150" dirty="0">
                <a:solidFill>
                  <a:schemeClr val="tx1"/>
                </a:solidFill>
              </a:rPr>
              <a:t>Commits and defect rate of each project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Proposed Methodology</a:t>
            </a:r>
            <a:endParaRPr lang="en-US" sz="2400" dirty="0"/>
          </a:p>
        </p:txBody>
      </p:sp>
      <p:pic>
        <p:nvPicPr>
          <p:cNvPr id="3" name="Figure 4" descr="/home/afler/Documents/thesis-later/scripts/presentation/images/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60120"/>
            <a:ext cx="7498080" cy="2946200"/>
          </a:xfrm>
          <a:prstGeom prst="rect">
            <a:avLst/>
          </a:prstGeom>
        </p:spPr>
      </p:pic>
      <p:sp>
        <p:nvSpPr>
          <p:cNvPr id="4" name="Caption 4"/>
          <p:cNvSpPr txBox="1"/>
          <p:nvPr/>
        </p:nvSpPr>
        <p:spPr>
          <a:xfrm>
            <a:off x="640080" y="3952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4: </a:t>
            </a:r>
            <a:r>
              <a:rPr lang="en-US" sz="1150" dirty="0">
                <a:solidFill>
                  <a:schemeClr val="tx1"/>
                </a:solidFill>
              </a:rPr>
              <a:t>Planned studies and the research questions they address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Proposed Methodology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SZZ labels: </a:t>
            </a:r>
            <a:r>
              <a:rPr lang="en-US" sz="1700" dirty="0">
                <a:solidFill>
                  <a:schemeClr val="tx1"/>
                </a:solidFill>
              </a:rPr>
              <a:t>six variants (B-, AG-, MA-, L-, R- and RA-SZZ) will be run with PySZZ on the same 5,453 bug-fixing commits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Label quality: </a:t>
            </a:r>
            <a:r>
              <a:rPr lang="en-US" sz="1700" dirty="0">
                <a:solidFill>
                  <a:schemeClr val="tx1"/>
                </a:solidFill>
              </a:rPr>
              <a:t>precision, recall, false-alarm rate ρ₀, miss rate ρ₁ and Cohen's κ against the reference labels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Models: </a:t>
            </a:r>
            <a:r>
              <a:rPr lang="en-US" sz="1700" dirty="0">
                <a:solidFill>
                  <a:schemeClr val="tx1"/>
                </a:solidFill>
              </a:rPr>
              <a:t>LApredict (logistic regression on lines added) [12], a JITLine-based random forest with SMOTE [9], and ORB (online ensemble) [1]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Scoring: </a:t>
            </a:r>
            <a:r>
              <a:rPr lang="en-US" sz="1700" dirty="0">
                <a:solidFill>
                  <a:schemeClr val="tx1"/>
                </a:solidFill>
              </a:rPr>
              <a:t>against the reference labels, and against the training labels (self-scoring) for comparison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Statistics: </a:t>
            </a:r>
            <a:r>
              <a:rPr lang="en-US" sz="1700" dirty="0">
                <a:solidFill>
                  <a:schemeClr val="tx1"/>
                </a:solidFill>
              </a:rPr>
              <a:t>paired by project (n = 21), Wilcoxon signed-rank test, Hodges-Lehmann estimate with bootstrap confidence interval, Holm correction for multiple comparisons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Planned scale: </a:t>
            </a:r>
            <a:r>
              <a:rPr lang="en-US" sz="1700" dirty="0">
                <a:solidFill>
                  <a:schemeClr val="tx1"/>
                </a:solidFill>
              </a:rPr>
              <a:t>3 models, 7 label sources, 4 evaluation settings, 10 seeds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Proposed Methodology: Evaluation Settings</a:t>
            </a:r>
            <a:endParaRPr lang="en-US" sz="2400" dirty="0"/>
          </a:p>
        </p:txBody>
      </p:sp>
      <p:pic>
        <p:nvPicPr>
          <p:cNvPr id="3" name="Figure 5" descr="/home/afler/Documents/thesis-later/scripts/presentation/images/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804672"/>
            <a:ext cx="6675120" cy="3359396"/>
          </a:xfrm>
          <a:prstGeom prst="rect">
            <a:avLst/>
          </a:prstGeom>
        </p:spPr>
      </p:pic>
      <p:sp>
        <p:nvSpPr>
          <p:cNvPr id="4" name="Caption 5"/>
          <p:cNvSpPr txBox="1"/>
          <p:nvPr/>
        </p:nvSpPr>
        <p:spPr>
          <a:xfrm>
            <a:off x="640080" y="42097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5: </a:t>
            </a:r>
            <a:r>
              <a:rPr lang="en-US" sz="1150" dirty="0">
                <a:solidFill>
                  <a:schemeClr val="tx1"/>
                </a:solidFill>
              </a:rPr>
              <a:t>Evaluation settings. Commits of a project are ordered by time from left to right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References I</a:t>
            </a:r>
            <a:endParaRPr lang="en-US" sz="2400" dirty="0"/>
          </a:p>
        </p:txBody>
      </p:sp>
      <p:graphicFrame>
        <p:nvGraphicFramePr>
          <p:cNvPr id="16" name="Reference li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170432"/>
          <a:ext cx="86868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8183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[1]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George G. Cabral et al. “Class Imbalance Evolution and Verification Latency in Just-in-Time Software Defect Prediction”.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41st International Conference on Software Engineering (ICSE). 2019, pp. 666-676.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[2]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Daniel Alencar da Costa et al. “A Framework for Evaluating the Results of the SZZ Approach for Identifying Bug-Introducing Changes”.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IEEE Transactions on Software Engineering 43.7 (2017), pp. 641-657.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[3]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Davide Falessi et al. “On the Need of Preserving Order of Data When Validating Within-Project Defect Classifiers”.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Empirical Software Engineering 25 (2020), pp. 4805-4830.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[4]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Yuanrui Fan et al. “The Impact of Changes Mislabeled by SZZ on Just-in-Time Defect Prediction”.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IEEE Transactions on Software Engineering 47.8 (2021), pp. 1559-1586.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[5]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Steffen Herbold et al. “A Fine-grained Data Set and Analysis of Tangling in Bug Fixing Commits”.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Empirical Software Engineering 27.6 (2022), p. 125.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[6]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Yasutaka Kamei et al. “A Large-Scale Empirical Study of Just-in-Time Quality Assurance”.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IEEE Transactions on Software Engineering 39.6 (2013), pp. 757-773.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[7]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Shane McIntosh and Yasutaka Kamei. “Are Fix-Inducing Changes a Moving Target? A Longitudinal Case Study of Just-in-Time Defect Prediction”.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IEEE Transactions on Software Engineering 44.5 (2018), pp. 412-428.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[8]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Chao Ni et al. “The Best of Both Worlds: Integrating Semantic Features with Expert Features for Defect Prediction and Localization”.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30th ACM Joint European Software Engineering Conference and Symposium on the Foundations of Software Engineering (ESEC/FSE). 2022, pp. 672-683.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References II</a:t>
            </a:r>
            <a:endParaRPr lang="en-US" sz="2400" dirty="0"/>
          </a:p>
        </p:txBody>
      </p:sp>
      <p:graphicFrame>
        <p:nvGraphicFramePr>
          <p:cNvPr id="17" name="Reference li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956816"/>
          <a:ext cx="86868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8183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[9]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Chanathip Pornprasit and Chakkrit Tantithamthavorn. “JITLine: A Simpler, Better, Faster, Finer-grained Just-In-Time Defect Prediction”.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18th International Conference on Mining Software Repositories (MSR). 2021, pp. 369-379.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[10]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Giovanni Rosa et al. “Evaluating SZZ Implementations Through a Developer-Informed Oracle”.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43rd International Conference on Software Engineering (ICSE). 2021.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[11]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Jacek Śliwerski, Thomas Zimmermann, and Andreas Zeller. “When Do Changes Induce Fixes?”.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International Workshop on Mining Software Repositories (MSR). 2005, pp. 1-5.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[12]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Zhengran Zeng et al. “Deep Just-in-Time Defect Prediction: How Far Are We?”.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30th ACM SIGSOFT International Symposium on Software Testing and Analysis (ISSTA). 2021.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TP navy">
  <a:themeElements>
    <a:clrScheme name="MTP navy">
      <a:dk1>
        <a:srgbClr val="000000"/>
      </a:dk1>
      <a:lt1>
        <a:srgbClr val="FFFFFF"/>
      </a:lt1>
      <a:dk2>
        <a:srgbClr val="0D264C"/>
      </a:dk2>
      <a:lt2>
        <a:srgbClr val="E8EBF0"/>
      </a:lt2>
      <a:accent1>
        <a:srgbClr val="2B6CA3"/>
      </a:accent1>
      <a:accent2>
        <a:srgbClr val="B5412F"/>
      </a:accent2>
      <a:accent3>
        <a:srgbClr val="3C8D5A"/>
      </a:accent3>
      <a:accent4>
        <a:srgbClr val="D98B2B"/>
      </a:accent4>
      <a:accent5>
        <a:srgbClr val="9AA0A6"/>
      </a:accent5>
      <a:accent6>
        <a:srgbClr val="5B6B8C"/>
      </a:accent6>
      <a:hlink>
        <a:srgbClr val="0D264C"/>
      </a:hlink>
      <a:folHlink>
        <a:srgbClr val="5B6B8C"/>
      </a:folHlink>
    </a:clrScheme>
    <a:fontScheme name="MTP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Label Noise in Just-In-Time Software Defect Prediction</dc:title>
  <dc:subject>PptxGenJS Presentation</dc:subject>
  <dc:creator>Puneet Deshwani</dc:creator>
  <cp:lastModifiedBy>Puneet Deshwani</cp:lastModifiedBy>
  <cp:revision>1</cp:revision>
  <dcterms:created xsi:type="dcterms:W3CDTF">2026-10-06T05:26:20Z</dcterms:created>
  <dcterms:modified xsi:type="dcterms:W3CDTF">2026-10-06T05:26:20Z</dcterms:modified>
</cp:coreProperties>
</file>