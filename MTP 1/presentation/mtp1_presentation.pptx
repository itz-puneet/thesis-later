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49ed903-f3ad-8d20-275d-75da344e1cde}">
          <p14:sldIdLst>
            <p14:sldId id="256"/>
            <p14:sldId id="257"/>
          </p14:sldIdLst>
        </p14:section>
        <p14:section name="Overview and motivation" id="{d1bc3eeb-0769-a781-def0-1b345154e990}">
          <p14:sldIdLst>
            <p14:sldId id="258"/>
            <p14:sldId id="259"/>
            <p14:sldId id="260"/>
          </p14:sldIdLst>
        </p14:section>
        <p14:section name="Related works" id="{6a0a8f06-e86e-9084-64f7-10f09404bc57}">
          <p14:sldIdLst>
            <p14:sldId id="261"/>
            <p14:sldId id="262"/>
          </p14:sldIdLst>
        </p14:section>
        <p14:section name="Research gaps and objectives" id="{cb8ef58d-218e-9700-b6fa-aedd665e9363}">
          <p14:sldIdLst>
            <p14:sldId id="263"/>
            <p14:sldId id="264"/>
            <p14:sldId id="265"/>
          </p14:sldIdLst>
        </p14:section>
        <p14:section name="Dataset and proposed work" id="{6b79c634-cb3f-44ec-f4d1-a972bce0e184}">
          <p14:sldIdLst>
            <p14:sldId id="266"/>
            <p14:sldId id="267"/>
          </p14:sldIdLst>
        </p14:section>
        <p14:section name="Timeline" id="{072c5fde-6189-bb32-d8d8-3b9a4f4bd318}">
          <p14:sldIdLst>
            <p14:sldId id="268"/>
          </p14:sldIdLst>
        </p14:section>
        <p14:section name="References" id="{a2137906-b92e-d6be-1996-4d007376d30b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" y="457200"/>
            <a:ext cx="8595360" cy="12618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859536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/ 15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859536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/ 15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859536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/ 15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lock"/>
          <p:cNvSpPr/>
          <p:nvPr/>
        </p:nvSpPr>
        <p:spPr>
          <a:xfrm>
            <a:off x="146304" y="457200"/>
            <a:ext cx="8851392" cy="1261872"/>
          </a:xfrm>
          <a:prstGeom prst="roundRect">
            <a:avLst>
              <a:gd name="adj" fmla="val 507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  <a:effectLst>
            <a:outerShdw sx="100000" sy="100000" kx="0" ky="0" algn="bl" rotWithShape="0" blurRad="63500" dist="31750" dir="2700000">
              <a:srgbClr val="000000">
                <a:alpha val="40000"/>
              </a:srgbClr>
            </a:outerShdw>
          </a:effectLst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74320" y="457200"/>
            <a:ext cx="8595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Quantifying SZZ-Induced Label Noise in Just-In-Time Software Defect Prediction under Verification-Latency-Aware Online Evaluation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Puneet Deshwani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2025MCS013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 the supervision of Dr. Santosh Singh Rathore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39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Atal Bihari Vajpayee Indian Institute of Information Technology and Management, Gwalior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87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Contents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Overview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Motivation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Related Works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Research Gaps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Research Questions and Objectives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Dataset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Proposed Work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Timeline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References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Overview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Just-in-time software defect prediction (JIT-SDP) predicts, at commit time, whether a code change is likely to introduce a defect, so that review and testing effort can be directed to risky changes [6].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models are trained on past commits. Each commit is described by change metrics and is labelled as clean or defect-introducing.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These labels are not recorded in the repository. They are inferred by the SZZ algorithm, which traces the lines changed in a bug-fixing commit back to the commits that last modified them [10].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Bug-fixing commits often contain unrelated changes (tangled commits), so SZZ produces wrong labels. Only 17% to 32% of the changed lines in bug-fixing commits contribute to the fix [5].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Overview</a:t>
            </a:r>
            <a:endParaRPr lang="en-US" sz="2400" dirty="0"/>
          </a:p>
        </p:txBody>
      </p:sp>
      <p:pic>
        <p:nvPicPr>
          <p:cNvPr id="3" name="Figure 1" descr="/home/afler/Documents/thesis-later/scripts/presentation/image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25880"/>
            <a:ext cx="4069080" cy="2043737"/>
          </a:xfrm>
          <a:prstGeom prst="rect">
            <a:avLst/>
          </a:prstGeom>
        </p:spPr>
      </p:pic>
      <p:sp>
        <p:nvSpPr>
          <p:cNvPr id="4" name="Caption 1"/>
          <p:cNvSpPr txBox="1"/>
          <p:nvPr/>
        </p:nvSpPr>
        <p:spPr>
          <a:xfrm>
            <a:off x="274320" y="3415337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1: </a:t>
            </a:r>
            <a:r>
              <a:rPr lang="en-US" sz="1150" dirty="0">
                <a:solidFill>
                  <a:schemeClr val="tx1"/>
                </a:solidFill>
              </a:rPr>
              <a:t>Workflow of JIT-SDP</a:t>
            </a:r>
            <a:endParaRPr lang="en-US" sz="1150" dirty="0"/>
          </a:p>
        </p:txBody>
      </p:sp>
      <p:pic>
        <p:nvPicPr>
          <p:cNvPr id="5" name="Figure 2" descr="/home/afler/Documents/thesis-later/scripts/presentation/images/szz_exa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98448"/>
            <a:ext cx="4297680" cy="2088280"/>
          </a:xfrm>
          <a:prstGeom prst="rect">
            <a:avLst/>
          </a:prstGeom>
        </p:spPr>
      </p:pic>
      <p:sp>
        <p:nvSpPr>
          <p:cNvPr id="6" name="Caption 2"/>
          <p:cNvSpPr txBox="1"/>
          <p:nvPr/>
        </p:nvSpPr>
        <p:spPr>
          <a:xfrm>
            <a:off x="4572000" y="34324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2: </a:t>
            </a:r>
            <a:r>
              <a:rPr lang="en-US" sz="1150" dirty="0">
                <a:solidFill>
                  <a:schemeClr val="tx1"/>
                </a:solidFill>
              </a:rPr>
              <a:t>Labelling with SZZ and a wrong label caused by an unrelated change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JIT-SDP models are trained and tested on the same SZZ labels. A model is then rewarded for reproducing the errors of SZZ, and the effect of label noise on the reported performance is not visible.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Random k-fold cross-validation is still widely used, although it trains the model on commits that are newer than the test commits [3].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 practice the label of a commit arrives late (verification latency): a defect is recognised only when it is fixed, which can take months or years [1].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It is therefore not known how much SZZ label noise costs a model that is evaluated in a realistic setting.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Related Works - 1</a:t>
            </a:r>
            <a:endParaRPr lang="en-US" sz="24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25880"/>
                <a:gridCol w="1920240"/>
                <a:gridCol w="2514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Key Takeaways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When Do Changes Induce Fixes? (2005) [10]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Jacek Śliwerski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Mozilla and Eclipse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Proposes the SZZ algorithm: lines changed by a bug fix are traced back with annotate (blame) to find the bug-introducing changes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 Framework for Evaluating the Results of the SZZ Approach for Identifying Bug-Introducing Changes (2017) [2]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Daniel A. da Costa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Ten open-source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Criteria for evaluating SZZ implementations; proposes MA-SZZ, which ignores meta-changes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Evaluating SZZ Implementations Through a Developer-Informed Oracle (2021) [9]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Giovanni Rosa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1,930 bug-fixing commits in which the developer names the introducing commit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Compares SZZ variants against the oracle; R-SZZ performs best (precision about 66%); releases PySZZ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 Fine-grained Data Set and Analysis of Tangling in Bug Fixing Commits (2022) [5]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Steffen Herbold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LLTC4J: manually labelled bug-fixing commits of Apache Java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Only 17% to 32% of the changed lines contribute to the bug fix; tangling adds noise to defect data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The Impact of Changes Mislabeled by SZZ on Just-in-Time Defect Prediction (2021) [4]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Yuanrui Fan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126,526 changes from ten Apache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Compares four SZZ variants with RA-SZZ as the reference; labels of AG-SZZ reduce performance significantly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Related Works - 2</a:t>
            </a:r>
            <a:endParaRPr lang="en-US" sz="24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25880"/>
                <a:gridCol w="1920240"/>
                <a:gridCol w="2514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Key Takeaways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 Large-Scale Empirical Study of Just-in-Time Quality Assurance (2013) [6]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Yasutaka Kamei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Six open-source and five commercial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14 change metrics in five groups; 68% accuracy and 64% recall with logistic regression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Are Fix-Inducing Changes a Moving Target? (2018) [7]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Shane McIntosh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Qt and OpenStack (37,524 changes)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Properties of fix-inducing changes change over time; models lose predictive power as they age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Class Imbalance Evolution and Verification Latency in Just-in-Time Software Defect Prediction (2019) [1]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George G. Cabral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Ten GitHub projects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Online JIT-SDP with delayed labels (90-day waiting period); proposes ORB for evolving class imbalance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Deep Just-in-Time Defect Prediction: How Far Are We? (2021) [11]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Zhengran Zeng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Open-source projects with over 310,000 changes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Deep models do not consistently beat simple ones; LApredict (logistic regression on added lines) is best in most cases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The Best of Both Worlds: Integrating Semantic Features with Expert Features for Defect Prediction and Localization (2022) [8]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Chao Ni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JIT-Defects4J: 21 Java projects, 27,319 commits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Dataset built from manually validated bug-fixing lines; proposes JIT-Fine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Research Gaps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Noise of SZZ labels not measured over complete project histories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Models tested against the same labels on which they are trained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Effect of label noise not separated from the effect of the evaluation procedure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Label noise not studied under verification latency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Effect of SZZ noise on online learners not understood, and no remedy for this setting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Research Questions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RQ1: </a:t>
            </a:r>
            <a:r>
              <a:rPr lang="en-US" sz="1700" dirty="0">
                <a:solidFill>
                  <a:schemeClr val="tx1"/>
                </a:solidFill>
              </a:rPr>
              <a:t>How much do the labels of SZZ variants disagree with one another and with independent reference labels, and what type of error does each variant make?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RQ2: </a:t>
            </a:r>
            <a:r>
              <a:rPr lang="en-US" sz="1700" dirty="0">
                <a:solidFill>
                  <a:schemeClr val="tx1"/>
                </a:solidFill>
              </a:rPr>
              <a:t>How does the choice of the label source affect the measured performance of JIT-SDP models under different evaluation settings?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RQ3: </a:t>
            </a:r>
            <a:r>
              <a:rPr lang="en-US" sz="1700" dirty="0">
                <a:solidFill>
                  <a:schemeClr val="tx1"/>
                </a:solidFill>
              </a:rPr>
              <a:t>Through which mechanism does label noise reduce the performance of an online learner, and which type of error is responsible?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RQ4: </a:t>
            </a:r>
            <a:r>
              <a:rPr lang="en-US" sz="1700" dirty="0">
                <a:solidFill>
                  <a:schemeClr val="tx1"/>
                </a:solidFill>
              </a:rPr>
              <a:t>Can an online learner be made less sensitive to SZZ label noise without access to clean labels?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11480" y="777240"/>
            <a:ext cx="8321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1: </a:t>
            </a:r>
            <a:r>
              <a:rPr lang="en-US" sz="1700" dirty="0">
                <a:solidFill>
                  <a:schemeClr val="tx1"/>
                </a:solidFill>
              </a:rPr>
              <a:t>Generate the labels of six SZZ variants for a dataset with independent reference labels, and characterise their false positive and false negative rates.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2: </a:t>
            </a:r>
            <a:r>
              <a:rPr lang="en-US" sz="1700" dirty="0">
                <a:solidFill>
                  <a:schemeClr val="tx1"/>
                </a:solidFill>
              </a:rPr>
              <a:t>Examine the agreement between the variants and identify the sources of their errors.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3: </a:t>
            </a:r>
            <a:r>
              <a:rPr lang="en-US" sz="1700" dirty="0">
                <a:solidFill>
                  <a:schemeClr val="tx1"/>
                </a:solidFill>
              </a:rPr>
              <a:t>Measure how much the evaluation procedure changes the measured performance of JIT-SDP models.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4: </a:t>
            </a:r>
            <a:r>
              <a:rPr lang="en-US" sz="1700" dirty="0">
                <a:solidFill>
                  <a:schemeClr val="tx1"/>
                </a:solidFill>
              </a:rPr>
              <a:t>Measure the loss caused by SZZ labels for an online learner under verification latency.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5: </a:t>
            </a:r>
            <a:r>
              <a:rPr lang="en-US" sz="1700" dirty="0">
                <a:solidFill>
                  <a:schemeClr val="tx1"/>
                </a:solidFill>
              </a:rPr>
              <a:t>Identify the type of labelling error responsible for the loss and its mechanism.</a:t>
            </a:r>
            <a:endParaRPr lang="en-US" sz="17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Objective 6: </a:t>
            </a:r>
            <a:r>
              <a:rPr lang="en-US" sz="1700" dirty="0">
                <a:solidFill>
                  <a:schemeClr val="tx1"/>
                </a:solidFill>
              </a:rPr>
              <a:t>Design and evaluate a noise-aware online learner.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Dataset</a:t>
            </a:r>
            <a:endParaRPr lang="en-US" sz="2400" dirty="0"/>
          </a:p>
        </p:txBody>
      </p:sp>
      <p:sp>
        <p:nvSpPr>
          <p:cNvPr id="3" name="Bullets"/>
          <p:cNvSpPr txBox="1"/>
          <p:nvPr/>
        </p:nvSpPr>
        <p:spPr>
          <a:xfrm>
            <a:off x="320040" y="77724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JIT-Defects4J [8]: 27,319 commits from 21 Apache Java projects (2001 to 2019)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2,332 commits (8.54%) are defect-introducing; 5,453 commits are bug-fixing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Reference labels: bug-fixing lines validated by at least three of four annotators, then traced back with git blame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Features: the 14 change metrics of Kamei et al. [6]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Selected because its labels do not come from the SZZ variants under study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SZZ labels and label arrival times will be added in MTP II</a:t>
            </a:r>
            <a:endParaRPr lang="en-US" sz="1450" dirty="0"/>
          </a:p>
        </p:txBody>
      </p:sp>
      <p:pic>
        <p:nvPicPr>
          <p:cNvPr id="4" name="Figure 3" descr="/home/afler/Documents/thesis-later/scripts/presentation/images/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14400"/>
            <a:ext cx="3794760" cy="2928056"/>
          </a:xfrm>
          <a:prstGeom prst="rect">
            <a:avLst/>
          </a:prstGeom>
        </p:spPr>
      </p:pic>
      <p:sp>
        <p:nvSpPr>
          <p:cNvPr id="5" name="Caption 3"/>
          <p:cNvSpPr txBox="1"/>
          <p:nvPr/>
        </p:nvSpPr>
        <p:spPr>
          <a:xfrm>
            <a:off x="5074920" y="38881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3: </a:t>
            </a:r>
            <a:r>
              <a:rPr lang="en-US" sz="1150" dirty="0">
                <a:solidFill>
                  <a:schemeClr val="tx1"/>
                </a:solidFill>
              </a:rPr>
              <a:t>Commits and defect rate of each project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Proposed Work</a:t>
            </a:r>
            <a:endParaRPr lang="en-US" sz="2400" dirty="0"/>
          </a:p>
        </p:txBody>
      </p:sp>
      <p:pic>
        <p:nvPicPr>
          <p:cNvPr id="3" name="Figure 4" descr="/home/afler/Documents/thesis-later/scripts/presentation/images/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7498080" cy="2946200"/>
          </a:xfrm>
          <a:prstGeom prst="rect">
            <a:avLst/>
          </a:prstGeom>
        </p:spPr>
      </p:pic>
      <p:sp>
        <p:nvSpPr>
          <p:cNvPr id="4" name="Caption 4"/>
          <p:cNvSpPr txBox="1"/>
          <p:nvPr/>
        </p:nvSpPr>
        <p:spPr>
          <a:xfrm>
            <a:off x="640080" y="3952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4: </a:t>
            </a:r>
            <a:r>
              <a:rPr lang="en-US" sz="1150" dirty="0">
                <a:solidFill>
                  <a:schemeClr val="tx1"/>
                </a:solidFill>
              </a:rPr>
              <a:t>Planned studies and the research questions they address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Timeline</a:t>
            </a:r>
            <a:endParaRPr lang="en-US" sz="2400" dirty="0"/>
          </a:p>
        </p:txBody>
      </p:sp>
      <p:sp>
        <p:nvSpPr>
          <p:cNvPr id="3" name="Timeline arrow"/>
          <p:cNvSpPr/>
          <p:nvPr/>
        </p:nvSpPr>
        <p:spPr>
          <a:xfrm>
            <a:off x="457200" y="2395728"/>
            <a:ext cx="8229600" cy="310896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nnector 1"/>
          <p:cNvSpPr/>
          <p:nvPr/>
        </p:nvSpPr>
        <p:spPr>
          <a:xfrm>
            <a:off x="1463040" y="1874520"/>
            <a:ext cx="0" cy="57607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5" name="Stage 1"/>
          <p:cNvSpPr txBox="1"/>
          <p:nvPr/>
        </p:nvSpPr>
        <p:spPr>
          <a:xfrm>
            <a:off x="548640" y="960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Literature Survey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(Research Gaps,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Dataset)</a:t>
            </a:r>
            <a:endParaRPr lang="en-US" sz="1150" dirty="0"/>
          </a:p>
        </p:txBody>
      </p:sp>
      <p:sp>
        <p:nvSpPr>
          <p:cNvPr id="6" name="Connector 2"/>
          <p:cNvSpPr/>
          <p:nvPr/>
        </p:nvSpPr>
        <p:spPr>
          <a:xfrm>
            <a:off x="3538728" y="2651760"/>
            <a:ext cx="0" cy="59436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7" name="Stage 2"/>
          <p:cNvSpPr txBox="1"/>
          <p:nvPr/>
        </p:nvSpPr>
        <p:spPr>
          <a:xfrm>
            <a:off x="2624328" y="3246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Label Quality 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Impact Analysis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(RQ1, RQ2)</a:t>
            </a:r>
            <a:endParaRPr lang="en-US" sz="1150" dirty="0"/>
          </a:p>
        </p:txBody>
      </p:sp>
      <p:sp>
        <p:nvSpPr>
          <p:cNvPr id="8" name="Connector 3"/>
          <p:cNvSpPr/>
          <p:nvPr/>
        </p:nvSpPr>
        <p:spPr>
          <a:xfrm>
            <a:off x="5605272" y="1874520"/>
            <a:ext cx="0" cy="57607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9" name="Stage 3"/>
          <p:cNvSpPr txBox="1"/>
          <p:nvPr/>
        </p:nvSpPr>
        <p:spPr>
          <a:xfrm>
            <a:off x="4690872" y="960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III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Mechanism of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Noise Effect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(RQ3)</a:t>
            </a:r>
            <a:endParaRPr lang="en-US" sz="1150" dirty="0"/>
          </a:p>
        </p:txBody>
      </p:sp>
      <p:sp>
        <p:nvSpPr>
          <p:cNvPr id="10" name="Connector 4"/>
          <p:cNvSpPr/>
          <p:nvPr/>
        </p:nvSpPr>
        <p:spPr>
          <a:xfrm>
            <a:off x="7680960" y="2651760"/>
            <a:ext cx="0" cy="59436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11" name="Stage 4"/>
          <p:cNvSpPr txBox="1"/>
          <p:nvPr/>
        </p:nvSpPr>
        <p:spPr>
          <a:xfrm>
            <a:off x="6766560" y="3246120"/>
            <a:ext cx="182880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MTP IV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Noise-Aware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Online Learner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(RQ4)</a:t>
            </a:r>
            <a:endParaRPr lang="en-US" sz="1150" dirty="0"/>
          </a:p>
        </p:txBody>
      </p:sp>
      <p:sp>
        <p:nvSpPr>
          <p:cNvPr id="12" name="Caption 5"/>
          <p:cNvSpPr txBox="1"/>
          <p:nvPr/>
        </p:nvSpPr>
        <p:spPr>
          <a:xfrm>
            <a:off x="2743200" y="4343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Figure 5: </a:t>
            </a:r>
            <a:r>
              <a:rPr lang="en-US" sz="1150" dirty="0">
                <a:solidFill>
                  <a:schemeClr val="tx1"/>
                </a:solidFill>
              </a:rPr>
              <a:t>Timeline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References I</a:t>
            </a:r>
            <a:endParaRPr lang="en-US" sz="2400" dirty="0"/>
          </a:p>
        </p:txBody>
      </p:sp>
      <p:graphicFrame>
        <p:nvGraphicFramePr>
          <p:cNvPr id="15" name="Reference 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70432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183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[1]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George G. Cabral et al. “Class Imbalance Evolution and Verification Latency in Just-in-Time Software Defect Prediction”.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41st International Conference on Software Engineering (ICSE). 2019, pp. 666-676.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[2]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Daniel Alencar da Costa et al. “A Framework for Evaluating the Results of the SZZ Approach for Identifying Bug-Introducing Changes”.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43.7 (2017), pp. 641-657.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[3]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Davide Falessi et al. “On the Need of Preserving Order of Data When Validating Within-Project Defect Classifiers”.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Empirical Software Engineering 25 (2020), pp. 4805-4830.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[4]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Yuanrui Fan et al. “The Impact of Changes Mislabeled by SZZ on Just-in-Time Defect Prediction”.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47.8 (2021), pp. 1559-1586.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[5]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Steffen Herbold et al. “A Fine-grained Data Set and Analysis of Tangling in Bug Fixing Commits”.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Empirical Software Engineering 27.6 (2022), p. 125.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[6]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Yasutaka Kamei et al. “A Large-Scale Empirical Study of Just-in-Time Quality Assurance”.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39.6 (2013), pp. 757-773.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[7]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Shane McIntosh and Yasutaka Kamei. “Are Fix-Inducing Changes a Moving Target? A Longitudinal Case Study of Just-in-Time Defect Prediction”.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IEEE Transactions on Software Engineering 44.5 (2018), pp. 412-428.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[8]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Chao Ni et al. “The Best of Both Worlds: Integrating Semantic Features with Expert Features for Defect Prediction and Localization”.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30th ACM Joint European Software Engineering Conference and Symposium on the Foundations of Software Engineering (ESEC/FSE). 2022, pp. 672-683.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References II</a:t>
            </a:r>
            <a:endParaRPr lang="en-US" sz="2400" dirty="0"/>
          </a:p>
        </p:txBody>
      </p:sp>
      <p:graphicFrame>
        <p:nvGraphicFramePr>
          <p:cNvPr id="16" name="Reference 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153412"/>
          <a:ext cx="86868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183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[9]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Giovanni Rosa et al. “Evaluating SZZ Implementations Through a Developer-Informed Oracle”.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43rd International Conference on Software Engineering (ICSE). 2021.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[10]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Jacek Śliwerski, Thomas Zimmermann, and Andreas Zeller. “When Do Changes Induce Fixes?”.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International Workshop on Mining Software Repositories (MSR). 2005, pp. 1-5.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[11]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Zhengran Zeng et al. “Deep Just-in-Time Defect Prediction: How Far Are We?”. </a:t>
                      </a:r>
                      <a:r>
                        <a:rPr lang="en-US" sz="1050" dirty="0">
                          <a:solidFill>
                            <a:schemeClr val="tx2"/>
                          </a:solidFill>
                        </a:rPr>
                        <a:t>In: </a:t>
                      </a:r>
                      <a:r>
                        <a:rPr lang="en-US" sz="1050" i="1" dirty="0">
                          <a:solidFill>
                            <a:schemeClr val="tx2"/>
                          </a:solidFill>
                        </a:rPr>
                        <a:t>Proceedings of the 30th ACM SIGSOFT International Symposium on Software Testing and Analysis (ISSTA). 2021.</a:t>
                      </a:r>
                      <a:endParaRPr lang="en-US" sz="1050" dirty="0"/>
                    </a:p>
                  </a:txBody>
                  <a:tcPr marL="25400" marR="25400" marT="25400" marB="25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46320"/>
            <a:ext cx="566928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TP navy">
  <a:themeElements>
    <a:clrScheme name="MTP navy">
      <a:dk1>
        <a:srgbClr val="000000"/>
      </a:dk1>
      <a:lt1>
        <a:srgbClr val="FFFFFF"/>
      </a:lt1>
      <a:dk2>
        <a:srgbClr val="0D264C"/>
      </a:dk2>
      <a:lt2>
        <a:srgbClr val="E8EBF0"/>
      </a:lt2>
      <a:accent1>
        <a:srgbClr val="2B6CA3"/>
      </a:accent1>
      <a:accent2>
        <a:srgbClr val="B5412F"/>
      </a:accent2>
      <a:accent3>
        <a:srgbClr val="3C8D5A"/>
      </a:accent3>
      <a:accent4>
        <a:srgbClr val="D98B2B"/>
      </a:accent4>
      <a:accent5>
        <a:srgbClr val="9AA0A6"/>
      </a:accent5>
      <a:accent6>
        <a:srgbClr val="5B6B8C"/>
      </a:accent6>
      <a:hlink>
        <a:srgbClr val="0D264C"/>
      </a:hlink>
      <a:folHlink>
        <a:srgbClr val="5B6B8C"/>
      </a:folHlink>
    </a:clrScheme>
    <a:fontScheme name="MTP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Quantifying SZZ-Induced Label Noise in Just-In-Time Software Defect Prediction</dc:title>
  <dc:subject>PptxGenJS Presentation</dc:subject>
  <dc:creator>Puneet Deshwani</dc:creator>
  <cp:lastModifiedBy>Puneet Deshwani</cp:lastModifiedBy>
  <cp:revision>1</cp:revision>
  <dcterms:created xsi:type="dcterms:W3CDTF">2026-10-05T04:56:53Z</dcterms:created>
  <dcterms:modified xsi:type="dcterms:W3CDTF">2026-10-05T04:56:53Z</dcterms:modified>
</cp:coreProperties>
</file>