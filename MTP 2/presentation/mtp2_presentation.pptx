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d5a36a2-086b-6242-b0bc-0222f9e98af8}">
          <p14:sldIdLst>
            <p14:sldId id="256"/>
            <p14:sldId id="257"/>
          </p14:sldIdLst>
        </p14:section>
        <p14:section name="Overview and motivation" id="{41a35c42-d983-7fec-d8c7-9d26b63163aa}">
          <p14:sldIdLst>
            <p14:sldId id="258"/>
            <p14:sldId id="259"/>
            <p14:sldId id="260"/>
          </p14:sldIdLst>
        </p14:section>
        <p14:section name="Related works" id="{08d9fe04-0cfc-c02c-fb39-d3198ace6c66}">
          <p14:sldIdLst>
            <p14:sldId id="261"/>
            <p14:sldId id="262"/>
          </p14:sldIdLst>
        </p14:section>
        <p14:section name="Research gaps and objectives" id="{fc60527b-5f2b-3c4e-0ed9-421f04e47c68}">
          <p14:sldIdLst>
            <p14:sldId id="263"/>
            <p14:sldId id="264"/>
            <p14:sldId id="265"/>
          </p14:sldIdLst>
        </p14:section>
        <p14:section name="Dataset and methodology" id="{a2ce735f-6bf8-3952-e464-9b7d26c889e0}">
          <p14:sldIdLst>
            <p14:sldId id="266"/>
            <p14:sldId id="267"/>
            <p14:sldId id="268"/>
            <p14:sldId id="269"/>
          </p14:sldIdLst>
        </p14:section>
        <p14:section name="Results" id="{7af15a94-1e84-408f-789f-53b71d9a5a7e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onclusion and future work" id="{53b37261-3cc0-d367-4b5a-f64916113bd8}">
          <p14:sldIdLst>
            <p14:sldId id="276"/>
            <p14:sldId id="277"/>
            <p14:sldId id="278"/>
          </p14:sldIdLst>
        </p14:section>
        <p14:section name="References" id="{f1870a25-d1bc-cefc-e238-0215b3b3274e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" y="566928"/>
            <a:ext cx="8595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859536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/ 25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859536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/ 25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859536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/ 25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lock"/>
          <p:cNvSpPr/>
          <p:nvPr/>
        </p:nvSpPr>
        <p:spPr>
          <a:xfrm>
            <a:off x="146304" y="566928"/>
            <a:ext cx="8851392" cy="1005840"/>
          </a:xfrm>
          <a:prstGeom prst="roundRect">
            <a:avLst>
              <a:gd name="adj" fmla="val 636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  <a:effectLst>
            <a:outerShdw sx="100000" sy="100000" kx="0" ky="0" algn="bl" rotWithShape="0" blurRad="63500" dist="31750" dir="2700000">
              <a:srgbClr val="000000">
                <a:alpha val="40000"/>
              </a:srgbClr>
            </a:outerShdw>
          </a:effectLst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74320" y="566928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Label Noise in Just-In-Time Software Defect Prediction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29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Puneet Deshwani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2025MCS013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 the supervision of Dr. Santosh Singh Rathore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39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Atal Bihari Vajpayee Indian Institute of Information Technology and Management, Gwalior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87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October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Contents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Overview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Motivation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Related Works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Research Gaps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Objectives and Research Questions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Dataset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Methodology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Results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Conclusion and Future Work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Timeline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References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Overview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Just-in-time software defect prediction (JIT-SDP) predicts, at commit time, whether a code change is likely to introduce a defect, so that review and testing effort can be directed to risky changes [6].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models are trained on past commits. Each commit is described by change metrics and is labelled as clean or defect-introducing.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These labels are not recorded in the repository. They are inferred by the SZZ algorithm, which traces the lines changed in a bug-fixing commit back to the commits that last modified them [11].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Bug-fixing commits often contain unrelated changes (tangled commits), so SZZ produces wrong labels. Only 17% to 32% of the changed lines in bug-fixing commits contribute to the fix [5].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Overview</a:t>
            </a:r>
            <a:endParaRPr lang="en-US" sz="2400" dirty="0"/>
          </a:p>
        </p:txBody>
      </p:sp>
      <p:pic>
        <p:nvPicPr>
          <p:cNvPr id="3" name="Figure 1" descr="/home/afler/Documents/thesis-later/scripts/presentation/images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25880"/>
            <a:ext cx="4069080" cy="2043737"/>
          </a:xfrm>
          <a:prstGeom prst="rect">
            <a:avLst/>
          </a:prstGeom>
        </p:spPr>
      </p:pic>
      <p:sp>
        <p:nvSpPr>
          <p:cNvPr id="4" name="Caption 1"/>
          <p:cNvSpPr txBox="1"/>
          <p:nvPr/>
        </p:nvSpPr>
        <p:spPr>
          <a:xfrm>
            <a:off x="274320" y="3415337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1: </a:t>
            </a:r>
            <a:r>
              <a:rPr lang="en-US" sz="1150" dirty="0">
                <a:solidFill>
                  <a:schemeClr val="tx1"/>
                </a:solidFill>
              </a:rPr>
              <a:t>Workflow of JIT-SDP</a:t>
            </a:r>
            <a:endParaRPr lang="en-US" sz="1150" dirty="0"/>
          </a:p>
        </p:txBody>
      </p:sp>
      <p:pic>
        <p:nvPicPr>
          <p:cNvPr id="5" name="Figure 2" descr="/home/afler/Documents/thesis-later/scripts/presentation/images/szz_exa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98448"/>
            <a:ext cx="4297680" cy="2088280"/>
          </a:xfrm>
          <a:prstGeom prst="rect">
            <a:avLst/>
          </a:prstGeom>
        </p:spPr>
      </p:pic>
      <p:sp>
        <p:nvSpPr>
          <p:cNvPr id="6" name="Caption 2"/>
          <p:cNvSpPr txBox="1"/>
          <p:nvPr/>
        </p:nvSpPr>
        <p:spPr>
          <a:xfrm>
            <a:off x="4572000" y="34324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2: </a:t>
            </a:r>
            <a:r>
              <a:rPr lang="en-US" sz="1150" dirty="0">
                <a:solidFill>
                  <a:schemeClr val="tx1"/>
                </a:solidFill>
              </a:rPr>
              <a:t>Labelling with SZZ and a wrong label caused by an unrelated change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Motivation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JIT-SDP models are trained and tested on the same SZZ labels. A model is then rewarded for reproducing the errors of SZZ, and the effect of label noise on the reported performance is not visible.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Random k-fold cross-validation is still widely used, although it trains the model on commits that are newer than the test commits [3].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 practice the label of a commit arrives late (verification latency). In our data the median delay is 113 days, and 53% of the defect labels arrive after 90 days [1].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It is therefore not known how much SZZ label noise costs a model that is evaluated in a realistic setting.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Related Works - 1</a:t>
            </a:r>
            <a:endParaRPr lang="en-US" sz="24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25880"/>
                <a:gridCol w="1920240"/>
                <a:gridCol w="2514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Key Takeaways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When Do Changes Induce Fixes? (2005) [11]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Jacek Śliwerski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Mozilla and Eclipse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Proposes the SZZ algorithm: lines changed by a bug fix are traced back with annotate (blame) to find the bug-introducing changes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 Framework for Evaluating the Results of the SZZ Approach for Identifying Bug-Introducing Changes (2017) [2]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Daniel A. da Costa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Ten open-source projects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Criteria for evaluating SZZ implementations; proposes MA-SZZ, which ignores meta-changes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Evaluating SZZ Implementations Through a Developer-Informed Oracle (2021) [10]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Giovanni Rosa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1,930 bug-fixing commits in which the developer names the introducing commit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Compares SZZ variants against the oracle; R-SZZ performs best (precision about 66%); releases PySZZ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 Fine-grained Data Set and Analysis of Tangling in Bug Fixing Commits (2022) [5]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Steffen Herbold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LLTC4J: manually labelled bug-fixing commits of Apache Java projects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Only 17% to 32% of the changed lines contribute to the bug fix; tangling adds noise to defect data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The Impact of Changes Mislabeled by SZZ on Just-in-Time Defect Prediction (2021) [4]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Yuanrui Fan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126,526 changes from ten Apache projects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Compares four SZZ variants with RA-SZZ as the reference; labels of AG-SZZ reduce performance significantly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Related Works - 2</a:t>
            </a:r>
            <a:endParaRPr lang="en-US" sz="24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25880"/>
                <a:gridCol w="1920240"/>
                <a:gridCol w="2514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Key Takeaways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 Large-Scale Empirical Study of Just-in-Time Quality Assurance (2013) [6]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Yasutaka Kamei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Six open-source and five commercial projects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14 change metrics in five groups; 68% accuracy and 64% recall with logistic regression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Are Fix-Inducing Changes a Moving Target? (2018) [7]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Shane McIntosh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Qt and OpenStack (37,524 changes)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Properties of fix-inducing changes change over time; models lose predictive power as they age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Class Imbalance Evolution and Verification Latency in Just-in-Time Software Defect Prediction (2019) [1]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George G. Cabral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Ten GitHub projects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Online JIT-SDP with delayed labels (90-day waiting period); proposes ORB for evolving class imbalance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Deep Just-in-Time Defect Prediction: How Far Are We? (2021) [12]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Zhengran Zeng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Open-source projects with over 310,000 changes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Deep models do not consistently beat simple ones; LApredict (logistic regression on added lines) is best in most cases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The Best of Both Worlds: Integrating Semantic Features with Expert Features for Defect Prediction and Localization (2022) [8]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Chao Ni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JIT-Defects4J: 21 Java projects, 27,319 commits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Dataset built from manually validated bug-fixing lines; proposes JIT-Fine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Research Gaps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Noise of SZZ labels not measured over complete project histories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Models tested against the same labels on which they are trained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Effect of label noise not separated from the effect of the evaluation procedure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Label noise not studied under verification latency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Effect of SZZ noise on online learners not understood, and no remedy for this setting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Objective 1: </a:t>
            </a:r>
            <a:r>
              <a:rPr lang="en-US" sz="1700" dirty="0">
                <a:solidFill>
                  <a:schemeClr val="tx1"/>
                </a:solidFill>
              </a:rPr>
              <a:t>To quantify the label noise introduced by SZZ and its variants, by comparing their labels with independent reference labels over complete project histories.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Objective 2: </a:t>
            </a:r>
            <a:r>
              <a:rPr lang="en-US" sz="1700" dirty="0">
                <a:solidFill>
                  <a:schemeClr val="tx1"/>
                </a:solidFill>
              </a:rPr>
              <a:t>To measure the effect of this noise on JIT-SDP models under a realistic evaluation that respects the order of the commits and the delay of the labels, and to separate it from the effect of the evaluation procedure.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Objective 3: </a:t>
            </a:r>
            <a:r>
              <a:rPr lang="en-US" sz="1700" dirty="0">
                <a:solidFill>
                  <a:schemeClr val="tx1"/>
                </a:solidFill>
              </a:rPr>
              <a:t>To identify how the noise affects an online learner, and to develop a noise-aware online learning approach that reduces its effect. (planned for MTP III and MTP IV)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Research Questions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RQ1: </a:t>
            </a:r>
            <a:r>
              <a:rPr lang="en-US" sz="1700" dirty="0">
                <a:solidFill>
                  <a:schemeClr val="tx1"/>
                </a:solidFill>
              </a:rPr>
              <a:t>How much do the labels of SZZ variants disagree with one another and with independent reference labels, and what type of error does each variant make?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RQ2: </a:t>
            </a:r>
            <a:r>
              <a:rPr lang="en-US" sz="1700" dirty="0">
                <a:solidFill>
                  <a:schemeClr val="tx1"/>
                </a:solidFill>
              </a:rPr>
              <a:t>How does the choice of the label source affect the measured performance of JIT-SDP models under different evaluation settings?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RQ3: </a:t>
            </a:r>
            <a:r>
              <a:rPr lang="en-US" sz="1700" dirty="0">
                <a:solidFill>
                  <a:schemeClr val="tx1"/>
                </a:solidFill>
              </a:rPr>
              <a:t>Through which mechanism does label noise reduce the performance of an online learner, and which type of error is responsible? (planned for MTP III)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RQ4: </a:t>
            </a:r>
            <a:r>
              <a:rPr lang="en-US" sz="1700" dirty="0">
                <a:solidFill>
                  <a:schemeClr val="tx1"/>
                </a:solidFill>
              </a:rPr>
              <a:t>Can an online learner be made less sensitive to SZZ label noise without access to clean labels? (planned for MTP IV)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Dataset</a:t>
            </a:r>
            <a:endParaRPr lang="en-US" sz="2400" dirty="0"/>
          </a:p>
        </p:txBody>
      </p:sp>
      <p:sp>
        <p:nvSpPr>
          <p:cNvPr id="3" name="Bullets"/>
          <p:cNvSpPr txBox="1"/>
          <p:nvPr/>
        </p:nvSpPr>
        <p:spPr>
          <a:xfrm>
            <a:off x="320040" y="77724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JIT-Defects4J [8]: 27,319 commits from 21 Apache Java projects (2001 to 2019)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2,332 commits (8.54%) are defect-introducing; 5,453 commits are bug-fixing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Reference labels: bug-fixing lines validated by at least three of four annotators, then traced back with git blame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Features: the 14 change metrics of Kamei et al. [6]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Seven labels per commit: reference label and six SZZ variants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Label arrival times taken from the dates of the bug-fixing commits (median delay 113 days)</a:t>
            </a:r>
            <a:endParaRPr lang="en-US" sz="1450" dirty="0"/>
          </a:p>
        </p:txBody>
      </p:sp>
      <p:pic>
        <p:nvPicPr>
          <p:cNvPr id="4" name="Figure 3" descr="/home/afler/Documents/thesis-later/scripts/presentation/images/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914400"/>
            <a:ext cx="3794760" cy="2928056"/>
          </a:xfrm>
          <a:prstGeom prst="rect">
            <a:avLst/>
          </a:prstGeom>
        </p:spPr>
      </p:pic>
      <p:sp>
        <p:nvSpPr>
          <p:cNvPr id="5" name="Caption 3"/>
          <p:cNvSpPr txBox="1"/>
          <p:nvPr/>
        </p:nvSpPr>
        <p:spPr>
          <a:xfrm>
            <a:off x="5074920" y="38881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3: </a:t>
            </a:r>
            <a:r>
              <a:rPr lang="en-US" sz="1150" dirty="0">
                <a:solidFill>
                  <a:schemeClr val="tx1"/>
                </a:solidFill>
              </a:rPr>
              <a:t>Commits and defect rate of each project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Methodology</a:t>
            </a:r>
            <a:endParaRPr lang="en-US" sz="2400" dirty="0"/>
          </a:p>
        </p:txBody>
      </p:sp>
      <p:pic>
        <p:nvPicPr>
          <p:cNvPr id="3" name="Figure 4" descr="/home/afler/Documents/thesis-later/scripts/presentation/images/appro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7498080" cy="2946200"/>
          </a:xfrm>
          <a:prstGeom prst="rect">
            <a:avLst/>
          </a:prstGeom>
        </p:spPr>
      </p:pic>
      <p:sp>
        <p:nvSpPr>
          <p:cNvPr id="4" name="Caption 4"/>
          <p:cNvSpPr txBox="1"/>
          <p:nvPr/>
        </p:nvSpPr>
        <p:spPr>
          <a:xfrm>
            <a:off x="640080" y="3952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4: </a:t>
            </a:r>
            <a:r>
              <a:rPr lang="en-US" sz="1150" dirty="0">
                <a:solidFill>
                  <a:schemeClr val="tx1"/>
                </a:solidFill>
              </a:rPr>
              <a:t>Overview of the work. Solid boxes: MTP II (completed). Dashed boxes: MTP III and MTP IV (planned)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SZZ labels: </a:t>
            </a:r>
            <a:r>
              <a:rPr lang="en-US" sz="1700" dirty="0">
                <a:solidFill>
                  <a:schemeClr val="tx1"/>
                </a:solidFill>
              </a:rPr>
              <a:t>six variants (B-, AG-, MA-, L-, R- and RA-SZZ) run with PySZZ on the same 5,453 bug-fixing commits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Label quality: </a:t>
            </a:r>
            <a:r>
              <a:rPr lang="en-US" sz="1700" dirty="0">
                <a:solidFill>
                  <a:schemeClr val="tx1"/>
                </a:solidFill>
              </a:rPr>
              <a:t>precision, recall, false-alarm rate ρ₀, miss rate ρ₁ and Cohen's κ against the reference labels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Models: </a:t>
            </a:r>
            <a:r>
              <a:rPr lang="en-US" sz="1700" dirty="0">
                <a:solidFill>
                  <a:schemeClr val="tx1"/>
                </a:solidFill>
              </a:rPr>
              <a:t>LApredict (logistic regression on lines added) [12], a JITLine-based random forest with SMOTE [9], and ORB (online ensemble) [1]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Scoring: </a:t>
            </a:r>
            <a:r>
              <a:rPr lang="en-US" sz="1700" dirty="0">
                <a:solidFill>
                  <a:schemeClr val="tx1"/>
                </a:solidFill>
              </a:rPr>
              <a:t>against the held-out reference labels, and against the training labels (self-scoring) for comparison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Statistics: </a:t>
            </a:r>
            <a:r>
              <a:rPr lang="en-US" sz="1700" dirty="0">
                <a:solidFill>
                  <a:schemeClr val="tx1"/>
                </a:solidFill>
              </a:rPr>
              <a:t>paired by project (n = 21), Wilcoxon signed-rank test, Hodges-Lehmann estimate with bootstrap confidence interval, Holm correction over all 74 tests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Scale: </a:t>
            </a:r>
            <a:r>
              <a:rPr lang="en-US" sz="1700" dirty="0">
                <a:solidFill>
                  <a:schemeClr val="tx1"/>
                </a:solidFill>
              </a:rPr>
              <a:t>3 models, 7 label sources, 4 evaluation settings, 10 seeds, 16,380 runs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Methodology: Evaluation Settings</a:t>
            </a:r>
            <a:endParaRPr lang="en-US" sz="2400" dirty="0"/>
          </a:p>
        </p:txBody>
      </p:sp>
      <p:pic>
        <p:nvPicPr>
          <p:cNvPr id="3" name="Figure 5" descr="/home/afler/Documents/thesis-later/scripts/presentation/image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804672"/>
            <a:ext cx="6675120" cy="3359396"/>
          </a:xfrm>
          <a:prstGeom prst="rect">
            <a:avLst/>
          </a:prstGeom>
        </p:spPr>
      </p:pic>
      <p:sp>
        <p:nvSpPr>
          <p:cNvPr id="4" name="Caption 5"/>
          <p:cNvSpPr txBox="1"/>
          <p:nvPr/>
        </p:nvSpPr>
        <p:spPr>
          <a:xfrm>
            <a:off x="640080" y="42097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5: </a:t>
            </a:r>
            <a:r>
              <a:rPr lang="en-US" sz="1150" dirty="0">
                <a:solidFill>
                  <a:schemeClr val="tx1"/>
                </a:solidFill>
              </a:rPr>
              <a:t>Evaluation settings. Commits of a project are ordered by time from left to right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Results: Quality of SZZ Labels (RQ1)</a:t>
            </a:r>
            <a:endParaRPr lang="en-US" sz="24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50749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777240"/>
                <a:gridCol w="822960"/>
                <a:gridCol w="685800"/>
                <a:gridCol w="640080"/>
                <a:gridCol w="640080"/>
                <a:gridCol w="640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Variant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Flagged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ρ₀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ρ₁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κ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8,060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0.186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0.641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0.263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0.359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0.179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AG-SZZ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5,876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0.186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0.467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0.192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0.533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0.163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MA-SZZ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6,154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0.183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0.482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0.201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0.518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0.161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2,287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0.272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0.267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0.067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0.733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0.202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3,015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0.232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0.300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0.093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0.700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0.183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RA-SZZ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5,553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0.184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0.438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0.181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0.562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0.158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274320" y="2697480"/>
            <a:ext cx="5166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Precision is at most 0.272: more than 72% of the flagged commits are clean according to the reference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noise is class-conditional: B-SZZ mainly gives false positives, L-SZZ and R-SZZ mainly miss defects</a:t>
            </a:r>
            <a:endParaRPr lang="en-US" sz="1400" dirty="0"/>
          </a:p>
        </p:txBody>
      </p:sp>
      <p:pic>
        <p:nvPicPr>
          <p:cNvPr id="5" name="Figure 6" descr="/home/afler/Documents/thesis-later/scripts/presentation/images/noise_r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914400"/>
            <a:ext cx="3246120" cy="2700599"/>
          </a:xfrm>
          <a:prstGeom prst="rect">
            <a:avLst/>
          </a:prstGeom>
        </p:spPr>
      </p:pic>
      <p:sp>
        <p:nvSpPr>
          <p:cNvPr id="6" name="Caption 6"/>
          <p:cNvSpPr txBox="1"/>
          <p:nvPr/>
        </p:nvSpPr>
        <p:spPr>
          <a:xfrm>
            <a:off x="5623560" y="3660719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6: </a:t>
            </a:r>
            <a:r>
              <a:rPr lang="en-US" sz="1150" dirty="0">
                <a:solidFill>
                  <a:schemeClr val="tx1"/>
                </a:solidFill>
              </a:rPr>
              <a:t>False-alarm rate and miss rate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Results: Agreement between Variants (RQ1)</a:t>
            </a:r>
            <a:endParaRPr lang="en-US" sz="2400" dirty="0"/>
          </a:p>
        </p:txBody>
      </p:sp>
      <p:pic>
        <p:nvPicPr>
          <p:cNvPr id="3" name="Figure 7" descr="/home/afler/Documents/thesis-later/scripts/presentation/images/kap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4069080" cy="3229429"/>
          </a:xfrm>
          <a:prstGeom prst="rect">
            <a:avLst/>
          </a:prstGeom>
        </p:spPr>
      </p:pic>
      <p:sp>
        <p:nvSpPr>
          <p:cNvPr id="4" name="Caption 7"/>
          <p:cNvSpPr txBox="1"/>
          <p:nvPr/>
        </p:nvSpPr>
        <p:spPr>
          <a:xfrm>
            <a:off x="274320" y="4098109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7: </a:t>
            </a:r>
            <a:r>
              <a:rPr lang="en-US" sz="1150" dirty="0">
                <a:solidFill>
                  <a:schemeClr val="tx1"/>
                </a:solidFill>
              </a:rPr>
              <a:t>Cohen's κ between the label sets</a:t>
            </a:r>
            <a:endParaRPr lang="en-US" sz="1150" dirty="0"/>
          </a:p>
        </p:txBody>
      </p:sp>
      <p:sp>
        <p:nvSpPr>
          <p:cNvPr id="5" name="Bullets"/>
          <p:cNvSpPr txBox="1"/>
          <p:nvPr/>
        </p:nvSpPr>
        <p:spPr>
          <a:xfrm>
            <a:off x="4572000" y="822960"/>
            <a:ext cx="42976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Agreement with the reference labels: κ = 0.16 to 0.20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Agreement among the variants: κ = 0.33 to 0.93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Agreement between SZZ variants is therefore not evidence of correct labels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Filtering also removes correct labels: 30% to 60% of the true positives of B-SZZ are lost in the refined variants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Results: Effect of the Evaluation Setting (RQ2)</a:t>
            </a:r>
            <a:endParaRPr lang="en-US" sz="2400" dirty="0"/>
          </a:p>
        </p:txBody>
      </p:sp>
      <p:pic>
        <p:nvPicPr>
          <p:cNvPr id="3" name="Figure 8" descr="/home/afler/Documents/thesis-later/scripts/presentation/images/lea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4892040" cy="2600766"/>
          </a:xfrm>
          <a:prstGeom prst="rect">
            <a:avLst/>
          </a:prstGeom>
        </p:spPr>
      </p:pic>
      <p:sp>
        <p:nvSpPr>
          <p:cNvPr id="4" name="Caption 8"/>
          <p:cNvSpPr txBox="1"/>
          <p:nvPr/>
        </p:nvSpPr>
        <p:spPr>
          <a:xfrm>
            <a:off x="274320" y="369804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8: </a:t>
            </a:r>
            <a:r>
              <a:rPr lang="en-US" sz="1150" dirty="0">
                <a:solidFill>
                  <a:schemeClr val="tx1"/>
                </a:solidFill>
              </a:rPr>
              <a:t>MCC of each project (models trained on reference labels)</a:t>
            </a:r>
            <a:endParaRPr lang="en-US" sz="1150" dirty="0"/>
          </a:p>
        </p:txBody>
      </p:sp>
      <p:sp>
        <p:nvSpPr>
          <p:cNvPr id="5" name="Bullets"/>
          <p:cNvSpPr txBox="1"/>
          <p:nvPr/>
        </p:nvSpPr>
        <p:spPr>
          <a:xfrm>
            <a:off x="5349240" y="822960"/>
            <a:ext cx="35661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Random k-fold gives a higher MCC than the chronological split in all 14 comparisons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JITLine: 0.243 against 0.102 (+0.137), in 21 of 21 projects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LApredict: +0.034, not significant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With the chronological split the simpler model is better (0.173 against 0.102)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Results: Effect of Scoring against Training Labels (RQ2)</a:t>
            </a:r>
            <a:endParaRPr lang="en-US" sz="2400" dirty="0"/>
          </a:p>
        </p:txBody>
      </p:sp>
      <p:pic>
        <p:nvPicPr>
          <p:cNvPr id="3" name="Figure 9" descr="/home/afler/Documents/thesis-later/scripts/presentation/images/self_sc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4983480" cy="2563519"/>
          </a:xfrm>
          <a:prstGeom prst="rect">
            <a:avLst/>
          </a:prstGeom>
        </p:spPr>
      </p:pic>
      <p:sp>
        <p:nvSpPr>
          <p:cNvPr id="4" name="Caption 9"/>
          <p:cNvSpPr txBox="1"/>
          <p:nvPr/>
        </p:nvSpPr>
        <p:spPr>
          <a:xfrm>
            <a:off x="274320" y="3660799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9: </a:t>
            </a:r>
            <a:r>
              <a:rPr lang="en-US" sz="1150" dirty="0">
                <a:solidFill>
                  <a:schemeClr val="tx1"/>
                </a:solidFill>
              </a:rPr>
              <a:t>Self-scored minus reference-scored MCC</a:t>
            </a:r>
            <a:endParaRPr lang="en-US" sz="1150" dirty="0"/>
          </a:p>
        </p:txBody>
      </p:sp>
      <p:sp>
        <p:nvSpPr>
          <p:cNvPr id="5" name="Bullets"/>
          <p:cNvSpPr txBox="1"/>
          <p:nvPr/>
        </p:nvSpPr>
        <p:spPr>
          <a:xfrm>
            <a:off x="5440680" y="822960"/>
            <a:ext cx="3474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Scoring a model against its own SZZ labels gives a higher MCC than scoring against the reference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JITLine with B-SZZ (k-fold): 0.413 against 0.175 (+0.230)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Significant for five of six variants with JITLine, only for B-SZZ with LApredict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The errors of B-SZZ are learnable: AUC 0.60 against 0.51 with permuted labels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Results: Effect of the Label Source, Online Setting (RQ2)</a:t>
            </a:r>
            <a:endParaRPr lang="en-US" sz="24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5532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0080"/>
                <a:gridCol w="640080"/>
                <a:gridCol w="1234440"/>
                <a:gridCol w="731520"/>
                <a:gridCol w="1051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Training labels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MCC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Loss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95% CI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Projects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 (corrected)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Reference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0.097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0.058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0.041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[0.022, 0.052]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18/21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0.006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AG-SZZ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0.036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0.060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[0.029, 0.085]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17/21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0.024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MA-SZZ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0.035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0.064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[0.039, 0.085]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18/21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0.004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0.058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0.034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[0.014, 0.055]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16/21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0.124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0.032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0.060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[0.042, 0.082]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19/21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&lt; 0.001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RA-SZZ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0.039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0.058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[0.036, 0.081]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18/21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0.006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5943600" y="822960"/>
            <a:ext cx="2971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ORB evaluated on the commit stream with verification latency, scored against the reference labels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model trained on reference labels is better than all six SZZ-trained models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Loss of 0.034 to 0.064 MCC, significant for five of six variants after correction over all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Results: Combined View</a:t>
            </a:r>
            <a:endParaRPr lang="en-US" sz="2400" dirty="0"/>
          </a:p>
        </p:txBody>
      </p:sp>
      <p:pic>
        <p:nvPicPr>
          <p:cNvPr id="3" name="Figure 10" descr="/home/afler/Documents/thesis-later/scripts/presentation/images/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4846320" cy="3130698"/>
          </a:xfrm>
          <a:prstGeom prst="rect">
            <a:avLst/>
          </a:prstGeom>
        </p:spPr>
      </p:pic>
      <p:sp>
        <p:nvSpPr>
          <p:cNvPr id="4" name="Caption 10"/>
          <p:cNvSpPr txBox="1"/>
          <p:nvPr/>
        </p:nvSpPr>
        <p:spPr>
          <a:xfrm>
            <a:off x="274320" y="404509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10: </a:t>
            </a:r>
            <a:r>
              <a:rPr lang="en-US" sz="1150" dirty="0">
                <a:solidFill>
                  <a:schemeClr val="tx1"/>
                </a:solidFill>
              </a:rPr>
              <a:t>MCC under increasingly realistic conditions</a:t>
            </a:r>
            <a:endParaRPr lang="en-US" sz="1150" dirty="0"/>
          </a:p>
        </p:txBody>
      </p:sp>
      <p:sp>
        <p:nvSpPr>
          <p:cNvPr id="5" name="Bullets"/>
          <p:cNvSpPr txBox="1"/>
          <p:nvPr/>
        </p:nvSpPr>
        <p:spPr>
          <a:xfrm>
            <a:off x="5303520" y="822960"/>
            <a:ext cx="3611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Common practice (JITLine, B-SZZ labels, k-fold, self-scored): 0.413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Same predictions scored against reference labels: 0.175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Reference labels with chronological split: 0.102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Online learner with verification latency: 0.097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The evaluation procedure accounts for more of the difference than the label noise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labels of all six SZZ variants differ strongly from the reference labels (precision 0.18 to 0.27). The noise is class-conditional and depends on the variant.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SZZ variants agree with each other much more than with the reference, so their agreement does not indicate correct labels.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Random k-fold cross-validation and scoring against the training labels overestimate the performance (+0.137 and up to +0.230 MCC), more so for the complex model.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 the online setting with verification latency, training on SZZ labels loses 0.034 to 0.064 MCC compared with the reference labels (0.097).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RQ1 and RQ2 are answered in MTP II. The cause of the loss and a remedy are the subject of MTP III and MTP IV.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Future Work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MTP III: </a:t>
            </a:r>
            <a:r>
              <a:rPr lang="en-US" sz="1700" dirty="0">
                <a:solidFill>
                  <a:schemeClr val="tx1"/>
                </a:solidFill>
              </a:rPr>
              <a:t>identify the cause of the loss (RQ3) by injecting noise into the reference labels at the measured rates, and by repairing the B-SZZ labels one error type at a time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Controls in MTP III: </a:t>
            </a:r>
            <a:r>
              <a:rPr lang="en-US" sz="1700" dirty="0">
                <a:solidFill>
                  <a:schemeClr val="tx1"/>
                </a:solidFill>
              </a:rPr>
              <a:t>equal number of corrected labels of each type, immediate delivery of repaired labels, and a condition without label delay; the resampling rate of ORB will be recorded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MTP IV: </a:t>
            </a:r>
            <a:r>
              <a:rPr lang="en-US" sz="1700" dirty="0">
                <a:solidFill>
                  <a:schemeClr val="tx1"/>
                </a:solidFill>
              </a:rPr>
              <a:t>design a noise-aware online learner (RQ4) that improves the performance on SZZ labels without reducing it on clean labels, with the evaluation plan fixed before the experiments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Further evaluation: </a:t>
            </a:r>
            <a:r>
              <a:rPr lang="en-US" sz="1700" dirty="0">
                <a:solidFill>
                  <a:schemeClr val="tx1"/>
                </a:solidFill>
              </a:rPr>
              <a:t>effort-aware measures and other online learners, if time permits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Timeline</a:t>
            </a:r>
            <a:endParaRPr lang="en-US" sz="2400" dirty="0"/>
          </a:p>
        </p:txBody>
      </p:sp>
      <p:sp>
        <p:nvSpPr>
          <p:cNvPr id="3" name="Timeline arrow"/>
          <p:cNvSpPr/>
          <p:nvPr/>
        </p:nvSpPr>
        <p:spPr>
          <a:xfrm>
            <a:off x="457200" y="2395728"/>
            <a:ext cx="8229600" cy="31089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nnector 1"/>
          <p:cNvSpPr/>
          <p:nvPr/>
        </p:nvSpPr>
        <p:spPr>
          <a:xfrm>
            <a:off x="1463040" y="1874520"/>
            <a:ext cx="0" cy="57607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5" name="Stage 1"/>
          <p:cNvSpPr txBox="1"/>
          <p:nvPr/>
        </p:nvSpPr>
        <p:spPr>
          <a:xfrm>
            <a:off x="548640" y="960120"/>
            <a:ext cx="18288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MTP 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Literature Survey,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Dataset and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Methodology</a:t>
            </a:r>
            <a:endParaRPr lang="en-US" sz="1150" dirty="0"/>
          </a:p>
        </p:txBody>
      </p:sp>
      <p:sp>
        <p:nvSpPr>
          <p:cNvPr id="6" name="Connector 2"/>
          <p:cNvSpPr/>
          <p:nvPr/>
        </p:nvSpPr>
        <p:spPr>
          <a:xfrm>
            <a:off x="3538728" y="2651760"/>
            <a:ext cx="0" cy="59436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7" name="Stage 2"/>
          <p:cNvSpPr txBox="1"/>
          <p:nvPr/>
        </p:nvSpPr>
        <p:spPr>
          <a:xfrm>
            <a:off x="2624328" y="3246120"/>
            <a:ext cx="18288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MTP II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Label Quality and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Impact Analysis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(RQ1, RQ2)</a:t>
            </a:r>
            <a:endParaRPr lang="en-US" sz="1150" dirty="0"/>
          </a:p>
        </p:txBody>
      </p:sp>
      <p:sp>
        <p:nvSpPr>
          <p:cNvPr id="8" name="Connector 3"/>
          <p:cNvSpPr/>
          <p:nvPr/>
        </p:nvSpPr>
        <p:spPr>
          <a:xfrm>
            <a:off x="5605272" y="1874520"/>
            <a:ext cx="0" cy="57607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9" name="Stage 3"/>
          <p:cNvSpPr txBox="1"/>
          <p:nvPr/>
        </p:nvSpPr>
        <p:spPr>
          <a:xfrm>
            <a:off x="4690872" y="960120"/>
            <a:ext cx="18288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MTP III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Mechanism of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Noise Effect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(RQ3)</a:t>
            </a:r>
            <a:endParaRPr lang="en-US" sz="1150" dirty="0"/>
          </a:p>
        </p:txBody>
      </p:sp>
      <p:sp>
        <p:nvSpPr>
          <p:cNvPr id="10" name="Connector 4"/>
          <p:cNvSpPr/>
          <p:nvPr/>
        </p:nvSpPr>
        <p:spPr>
          <a:xfrm>
            <a:off x="7680960" y="2651760"/>
            <a:ext cx="0" cy="59436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1" name="Stage 4"/>
          <p:cNvSpPr txBox="1"/>
          <p:nvPr/>
        </p:nvSpPr>
        <p:spPr>
          <a:xfrm>
            <a:off x="6766560" y="3246120"/>
            <a:ext cx="18288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MTP IV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Noise-Aware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Online Learner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(RQ4)</a:t>
            </a:r>
            <a:endParaRPr lang="en-US" sz="1150" dirty="0"/>
          </a:p>
        </p:txBody>
      </p:sp>
      <p:sp>
        <p:nvSpPr>
          <p:cNvPr id="12" name="Caption 11"/>
          <p:cNvSpPr txBox="1"/>
          <p:nvPr/>
        </p:nvSpPr>
        <p:spPr>
          <a:xfrm>
            <a:off x="2743200" y="4343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11: </a:t>
            </a:r>
            <a:r>
              <a:rPr lang="en-US" sz="1150" dirty="0">
                <a:solidFill>
                  <a:schemeClr val="tx1"/>
                </a:solidFill>
              </a:rPr>
              <a:t>Timeline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References I</a:t>
            </a:r>
            <a:endParaRPr lang="en-US" sz="2400" dirty="0"/>
          </a:p>
        </p:txBody>
      </p:sp>
      <p:graphicFrame>
        <p:nvGraphicFramePr>
          <p:cNvPr id="25" name="Reference 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70432"/>
          <a:ext cx="86868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8183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[1]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George G. Cabral et al. “Class Imbalance Evolution and Verification Latency in Just-in-Time Software Defect Prediction”.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41st International Conference on Software Engineering (ICSE). 2019, pp. 666-676.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[2]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Daniel Alencar da Costa et al. “A Framework for Evaluating the Results of the SZZ Approach for Identifying Bug-Introducing Changes”.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IEEE Transactions on Software Engineering 43.7 (2017), pp. 641-657.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[3]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Davide Falessi et al. “On the Need of Preserving Order of Data When Validating Within-Project Defect Classifiers”.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Empirical Software Engineering 25 (2020), pp. 4805-4830.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[4]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Yuanrui Fan et al. “The Impact of Changes Mislabeled by SZZ on Just-in-Time Defect Prediction”.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IEEE Transactions on Software Engineering 47.8 (2021), pp. 1559-1586.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[5]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Steffen Herbold et al. “A Fine-grained Data Set and Analysis of Tangling in Bug Fixing Commits”.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Empirical Software Engineering 27.6 (2022), p. 125.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[6]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Yasutaka Kamei et al. “A Large-Scale Empirical Study of Just-in-Time Quality Assurance”.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IEEE Transactions on Software Engineering 39.6 (2013), pp. 757-773.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[7]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Shane McIntosh and Yasutaka Kamei. “Are Fix-Inducing Changes a Moving Target? A Longitudinal Case Study of Just-in-Time Defect Prediction”.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IEEE Transactions on Software Engineering 44.5 (2018), pp. 412-428.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[8]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Chao Ni et al. “The Best of Both Worlds: Integrating Semantic Features with Expert Features for Defect Prediction and Localization”.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30th ACM Joint European Software Engineering Conference and Symposium on the Foundations of Software Engineering (ESEC/FSE). 2022, pp. 672-683.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References II</a:t>
            </a:r>
            <a:endParaRPr lang="en-US" sz="2400" dirty="0"/>
          </a:p>
        </p:txBody>
      </p:sp>
      <p:graphicFrame>
        <p:nvGraphicFramePr>
          <p:cNvPr id="26" name="Reference 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956816"/>
          <a:ext cx="86868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8183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[9]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Chanathip Pornprasit and Chakkrit Tantithamthavorn. “JITLine: A Simpler, Better, Faster, Finer-grained Just-In-Time Defect Prediction”.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18th International Conference on Mining Software Repositories (MSR). 2021, pp. 369-379.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[10]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Giovanni Rosa et al. “Evaluating SZZ Implementations Through a Developer-Informed Oracle”.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43rd International Conference on Software Engineering (ICSE). 2021.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[11]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Jacek Śliwerski, Thomas Zimmermann, and Andreas Zeller. “When Do Changes Induce Fixes?”.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International Workshop on Mining Software Repositories (MSR). 2005, pp. 1-5.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[12]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Zhengran Zeng et al. “Deep Just-in-Time Defect Prediction: How Far Are We?”.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30th ACM SIGSOFT International Symposium on Software Testing and Analysis (ISSTA). 2021.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TP navy">
  <a:themeElements>
    <a:clrScheme name="MTP navy">
      <a:dk1>
        <a:srgbClr val="000000"/>
      </a:dk1>
      <a:lt1>
        <a:srgbClr val="FFFFFF"/>
      </a:lt1>
      <a:dk2>
        <a:srgbClr val="0D264C"/>
      </a:dk2>
      <a:lt2>
        <a:srgbClr val="E8EBF0"/>
      </a:lt2>
      <a:accent1>
        <a:srgbClr val="2B6CA3"/>
      </a:accent1>
      <a:accent2>
        <a:srgbClr val="B5412F"/>
      </a:accent2>
      <a:accent3>
        <a:srgbClr val="3C8D5A"/>
      </a:accent3>
      <a:accent4>
        <a:srgbClr val="D98B2B"/>
      </a:accent4>
      <a:accent5>
        <a:srgbClr val="9AA0A6"/>
      </a:accent5>
      <a:accent6>
        <a:srgbClr val="5B6B8C"/>
      </a:accent6>
      <a:hlink>
        <a:srgbClr val="0D264C"/>
      </a:hlink>
      <a:folHlink>
        <a:srgbClr val="5B6B8C"/>
      </a:folHlink>
    </a:clrScheme>
    <a:fontScheme name="MTP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Label Noise in Just-In-Time Software Defect Prediction</dc:title>
  <dc:subject>PptxGenJS Presentation</dc:subject>
  <dc:creator>Puneet Deshwani</dc:creator>
  <cp:lastModifiedBy>Puneet Deshwani</cp:lastModifiedBy>
  <cp:revision>1</cp:revision>
  <dcterms:created xsi:type="dcterms:W3CDTF">2026-10-06T05:26:20Z</dcterms:created>
  <dcterms:modified xsi:type="dcterms:W3CDTF">2026-10-06T05:26:20Z</dcterms:modified>
</cp:coreProperties>
</file>